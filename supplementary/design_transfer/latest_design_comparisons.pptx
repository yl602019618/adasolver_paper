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152144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65" y="1049274"/>
            <a:ext cx="2914924" cy="1049274"/>
          </a:xfrm>
          <a:prstGeom prst="rect">
            <a:avLst/>
          </a:prstGeom>
        </p:spPr>
      </p:pic>
      <p:pic>
        <p:nvPicPr>
          <p:cNvPr id="3" name="Picture 2" descr="full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004" y="1049274"/>
            <a:ext cx="2914924" cy="1049274"/>
          </a:xfrm>
          <a:prstGeom prst="rect">
            <a:avLst/>
          </a:prstGeom>
        </p:spPr>
      </p:pic>
      <p:pic>
        <p:nvPicPr>
          <p:cNvPr id="4" name="Picture 3" descr="full_sh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044" y="1049274"/>
            <a:ext cx="2914924" cy="1049274"/>
          </a:xfrm>
          <a:prstGeom prst="rect">
            <a:avLst/>
          </a:prstGeom>
        </p:spPr>
      </p:pic>
      <p:pic>
        <p:nvPicPr>
          <p:cNvPr id="5" name="Picture 4" descr="ca_original_press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965" y="2253996"/>
            <a:ext cx="2914924" cy="1049274"/>
          </a:xfrm>
          <a:prstGeom prst="rect">
            <a:avLst/>
          </a:prstGeom>
        </p:spPr>
      </p:pic>
      <p:pic>
        <p:nvPicPr>
          <p:cNvPr id="6" name="Picture 5" descr="ca_original_err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004" y="2253996"/>
            <a:ext cx="2914924" cy="1049274"/>
          </a:xfrm>
          <a:prstGeom prst="rect">
            <a:avLst/>
          </a:prstGeom>
        </p:spPr>
      </p:pic>
      <p:pic>
        <p:nvPicPr>
          <p:cNvPr id="7" name="Picture 6" descr="ca_original_sha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044" y="2253996"/>
            <a:ext cx="2914924" cy="1049274"/>
          </a:xfrm>
          <a:prstGeom prst="rect">
            <a:avLst/>
          </a:prstGeom>
        </p:spPr>
      </p:pic>
      <p:pic>
        <p:nvPicPr>
          <p:cNvPr id="8" name="Picture 7" descr="ca_retuned_press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965" y="3458718"/>
            <a:ext cx="2914924" cy="1049274"/>
          </a:xfrm>
          <a:prstGeom prst="rect">
            <a:avLst/>
          </a:prstGeom>
        </p:spPr>
      </p:pic>
      <p:pic>
        <p:nvPicPr>
          <p:cNvPr id="9" name="Picture 8" descr="ca_retuned_err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9004" y="3458718"/>
            <a:ext cx="2914924" cy="1049274"/>
          </a:xfrm>
          <a:prstGeom prst="rect">
            <a:avLst/>
          </a:prstGeom>
        </p:spPr>
      </p:pic>
      <p:pic>
        <p:nvPicPr>
          <p:cNvPr id="10" name="Picture 9" descr="ca_retuned_shap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3044" y="3458718"/>
            <a:ext cx="2914924" cy="1049274"/>
          </a:xfrm>
          <a:prstGeom prst="rect">
            <a:avLst/>
          </a:prstGeom>
        </p:spPr>
      </p:pic>
      <p:pic>
        <p:nvPicPr>
          <p:cNvPr id="11" name="Picture 10" descr="trajecto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4965" y="5090922"/>
            <a:ext cx="2914924" cy="1865376"/>
          </a:xfrm>
          <a:prstGeom prst="rect">
            <a:avLst/>
          </a:prstGeom>
        </p:spPr>
      </p:pic>
      <p:pic>
        <p:nvPicPr>
          <p:cNvPr id="12" name="Picture 11" descr="endpoi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9004" y="5090922"/>
            <a:ext cx="2914924" cy="1865376"/>
          </a:xfrm>
          <a:prstGeom prst="rect">
            <a:avLst/>
          </a:prstGeom>
        </p:spPr>
      </p:pic>
      <p:pic>
        <p:nvPicPr>
          <p:cNvPr id="13" name="Picture 12" descr="coefficient_err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3044" y="5090922"/>
            <a:ext cx="2914924" cy="1865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4864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Arial"/>
              </a:defRPr>
            </a:pPr>
            <a:r>
              <a:t>Airfoil design · 18.75%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1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t>Final CFD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11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t>Prediction − CFD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411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t>Shape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" y="137160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Full mesh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" y="257860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AdaSolver (previous)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" y="3785616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AdaSolver (updated)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3883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CFD at initial and final geometries only; step curves show surrogate predictions.</a:t>
            </a:r>
          </a:p>
        </p:txBody>
      </p:sp>
      <p:pic>
        <p:nvPicPr>
          <p:cNvPr id="22" name="Picture 21" descr="press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5880" y="4645152"/>
            <a:ext cx="2907792" cy="402336"/>
          </a:xfrm>
          <a:prstGeom prst="rect">
            <a:avLst/>
          </a:prstGeom>
        </p:spPr>
      </p:pic>
      <p:pic>
        <p:nvPicPr>
          <p:cNvPr id="23" name="Picture 22" descr="err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7176" y="4645152"/>
            <a:ext cx="2907792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65" y="1049274"/>
            <a:ext cx="2914924" cy="1049274"/>
          </a:xfrm>
          <a:prstGeom prst="rect">
            <a:avLst/>
          </a:prstGeom>
        </p:spPr>
      </p:pic>
      <p:pic>
        <p:nvPicPr>
          <p:cNvPr id="3" name="Picture 2" descr="full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004" y="1049274"/>
            <a:ext cx="2914924" cy="1049274"/>
          </a:xfrm>
          <a:prstGeom prst="rect">
            <a:avLst/>
          </a:prstGeom>
        </p:spPr>
      </p:pic>
      <p:pic>
        <p:nvPicPr>
          <p:cNvPr id="4" name="Picture 3" descr="full_sh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044" y="1049274"/>
            <a:ext cx="2914924" cy="1049274"/>
          </a:xfrm>
          <a:prstGeom prst="rect">
            <a:avLst/>
          </a:prstGeom>
        </p:spPr>
      </p:pic>
      <p:pic>
        <p:nvPicPr>
          <p:cNvPr id="5" name="Picture 4" descr="ca_original_press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965" y="2253996"/>
            <a:ext cx="2914924" cy="1049274"/>
          </a:xfrm>
          <a:prstGeom prst="rect">
            <a:avLst/>
          </a:prstGeom>
        </p:spPr>
      </p:pic>
      <p:pic>
        <p:nvPicPr>
          <p:cNvPr id="6" name="Picture 5" descr="ca_original_err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004" y="2253996"/>
            <a:ext cx="2914924" cy="1049274"/>
          </a:xfrm>
          <a:prstGeom prst="rect">
            <a:avLst/>
          </a:prstGeom>
        </p:spPr>
      </p:pic>
      <p:pic>
        <p:nvPicPr>
          <p:cNvPr id="7" name="Picture 6" descr="ca_original_shap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044" y="2253996"/>
            <a:ext cx="2914924" cy="1049274"/>
          </a:xfrm>
          <a:prstGeom prst="rect">
            <a:avLst/>
          </a:prstGeom>
        </p:spPr>
      </p:pic>
      <p:pic>
        <p:nvPicPr>
          <p:cNvPr id="8" name="Picture 7" descr="ca_retuned_press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4965" y="3458718"/>
            <a:ext cx="2914924" cy="1049274"/>
          </a:xfrm>
          <a:prstGeom prst="rect">
            <a:avLst/>
          </a:prstGeom>
        </p:spPr>
      </p:pic>
      <p:pic>
        <p:nvPicPr>
          <p:cNvPr id="9" name="Picture 8" descr="ca_retuned_err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9004" y="3458718"/>
            <a:ext cx="2914924" cy="1049274"/>
          </a:xfrm>
          <a:prstGeom prst="rect">
            <a:avLst/>
          </a:prstGeom>
        </p:spPr>
      </p:pic>
      <p:pic>
        <p:nvPicPr>
          <p:cNvPr id="10" name="Picture 9" descr="ca_retuned_shap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3044" y="3458718"/>
            <a:ext cx="2914924" cy="1049274"/>
          </a:xfrm>
          <a:prstGeom prst="rect">
            <a:avLst/>
          </a:prstGeom>
        </p:spPr>
      </p:pic>
      <p:pic>
        <p:nvPicPr>
          <p:cNvPr id="11" name="Picture 10" descr="trajector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4965" y="5090922"/>
            <a:ext cx="2914924" cy="1865376"/>
          </a:xfrm>
          <a:prstGeom prst="rect">
            <a:avLst/>
          </a:prstGeom>
        </p:spPr>
      </p:pic>
      <p:pic>
        <p:nvPicPr>
          <p:cNvPr id="12" name="Picture 11" descr="endpoin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9004" y="5090922"/>
            <a:ext cx="2914924" cy="1865376"/>
          </a:xfrm>
          <a:prstGeom prst="rect">
            <a:avLst/>
          </a:prstGeom>
        </p:spPr>
      </p:pic>
      <p:pic>
        <p:nvPicPr>
          <p:cNvPr id="13" name="Picture 12" descr="coefficient_erro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3044" y="5090922"/>
            <a:ext cx="2914924" cy="1865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54864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Arial"/>
              </a:defRPr>
            </a:pPr>
            <a:r>
              <a:t>Airfoil design · 37.5%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1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t>Final CFD 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11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t>Prediction − CFD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41148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Arial"/>
              </a:defRPr>
            </a:pPr>
            <a:r>
              <a:t>Shape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" y="1371600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Full mesh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" y="2578608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AdaSolver (previous)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" y="3785616"/>
            <a:ext cx="1234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AdaSolver (updated)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38835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CFD at initial and final geometries only; step curves show surrogate predictions.</a:t>
            </a:r>
          </a:p>
        </p:txBody>
      </p:sp>
      <p:pic>
        <p:nvPicPr>
          <p:cNvPr id="22" name="Picture 21" descr="press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5880" y="4645152"/>
            <a:ext cx="2907792" cy="402336"/>
          </a:xfrm>
          <a:prstGeom prst="rect">
            <a:avLst/>
          </a:prstGeom>
        </p:spPr>
      </p:pic>
      <p:pic>
        <p:nvPicPr>
          <p:cNvPr id="23" name="Picture 22" descr="erro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7176" y="4645152"/>
            <a:ext cx="2907792" cy="402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